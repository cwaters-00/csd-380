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c057a46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c057a46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c057a4666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c057a4666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c057a4666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c057a4666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c057a4666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c057a4666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c057a4666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c057a4666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c057a4666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c057a4666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c057a4666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ec057a4666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c057a4666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c057a4666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c057a4666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ec057a4666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ec057a4666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ec057a4666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c057a4666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ec057a4666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The Technology Value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Stream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8" name="Google Shape;438;p41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Chanceller Waters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443" name="Google Shape;443;p42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2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This is a presentation that explores several subjects in the DevOps sphere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45" name="Google Shape;445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46" name="Google Shape;446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47" name="Google Shape;447;p42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448" name="Google Shape;448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3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43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3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3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59" name="Google Shape;459;p43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460" name="Google Shape;460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1" name="Google Shape;461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2" name="Google Shape;462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4" name="Google Shape;464;p43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465" name="Google Shape;465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6" name="Google Shape;466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7" name="Google Shape;467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" name="Google Shape;468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9" name="Google Shape;469;p43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470" name="Google Shape;470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1" name="Google Shape;471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2" name="Google Shape;472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4" name="Google Shape;474;p43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475" name="Google Shape;475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6" name="Google Shape;476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7" name="Google Shape;477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9" name="Google Shape;479;p43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480" name="Google Shape;480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1" name="Google Shape;481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2" name="Google Shape;482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4" name="Google Shape;484;p43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485" name="Google Shape;485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6" name="Google Shape;486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7" name="Google Shape;487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9" name="Google Shape;489;p4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490" name="Google Shape;490;p4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r>
              <a:rPr lang="en"/>
              <a:t> </a:t>
            </a:r>
            <a:endParaRPr/>
          </a:p>
        </p:txBody>
      </p:sp>
      <p:sp>
        <p:nvSpPr>
          <p:cNvPr id="491" name="Google Shape;491;p4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92" name="Google Shape;492;p43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93" name="Google Shape;493;p43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4" name="Google Shape;494;p43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5" name="Google Shape;495;p43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6" name="Google Shape;496;p43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7" name="Google Shape;497;p43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8" name="Google Shape;498;p43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99" name="Google Shape;499;p43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Time Vs Processing Time</a:t>
            </a:r>
            <a:endParaRPr/>
          </a:p>
        </p:txBody>
      </p:sp>
      <p:sp>
        <p:nvSpPr>
          <p:cNvPr id="500" name="Google Shape;500;p43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The Common Scenario</a:t>
            </a:r>
            <a:endParaRPr/>
          </a:p>
        </p:txBody>
      </p:sp>
      <p:sp>
        <p:nvSpPr>
          <p:cNvPr id="501" name="Google Shape;501;p43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The ideal DevOps </a:t>
            </a:r>
            <a:r>
              <a:rPr lang="en"/>
              <a:t>Scenario</a:t>
            </a:r>
            <a:r>
              <a:rPr lang="en"/>
              <a:t> </a:t>
            </a:r>
            <a:endParaRPr/>
          </a:p>
        </p:txBody>
      </p:sp>
      <p:sp>
        <p:nvSpPr>
          <p:cNvPr id="502" name="Google Shape;502;p43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Technology Value Stream: explained</a:t>
            </a:r>
            <a:endParaRPr/>
          </a:p>
        </p:txBody>
      </p:sp>
      <p:sp>
        <p:nvSpPr>
          <p:cNvPr id="503" name="Google Shape;503;p43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Stages</a:t>
            </a:r>
            <a:endParaRPr/>
          </a:p>
        </p:txBody>
      </p:sp>
      <p:sp>
        <p:nvSpPr>
          <p:cNvPr id="504" name="Google Shape;504;p43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Importance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9" name="Google Shape;509;p44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44"/>
          <p:cNvCxnSpPr/>
          <p:nvPr/>
        </p:nvCxnSpPr>
        <p:spPr>
          <a:xfrm>
            <a:off x="4230063" y="1535975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4"/>
          <p:cNvSpPr txBox="1"/>
          <p:nvPr>
            <p:ph type="title"/>
          </p:nvPr>
        </p:nvSpPr>
        <p:spPr>
          <a:xfrm>
            <a:off x="228600" y="613525"/>
            <a:ext cx="72234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Lead Time vs Processing Time: the time it takes to make vs time to deploy</a:t>
            </a:r>
            <a:endParaRPr/>
          </a:p>
        </p:txBody>
      </p:sp>
      <p:sp>
        <p:nvSpPr>
          <p:cNvPr id="512" name="Google Shape;512;p4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It takes 45 minutes overall for the pizza to reach your </a:t>
            </a:r>
            <a:r>
              <a:rPr b="1" lang="en" sz="1400"/>
              <a:t>door</a:t>
            </a:r>
            <a:r>
              <a:rPr b="1" lang="en" sz="1400"/>
              <a:t>. 8 minutes to cook; and 37 minutes for; </a:t>
            </a:r>
            <a:r>
              <a:rPr b="1" lang="en" sz="1400"/>
              <a:t>waiting</a:t>
            </a:r>
            <a:r>
              <a:rPr b="1" lang="en" sz="1400"/>
              <a:t> , packing, and finally driving to deliver.</a:t>
            </a:r>
            <a:endParaRPr/>
          </a:p>
        </p:txBody>
      </p:sp>
      <p:sp>
        <p:nvSpPr>
          <p:cNvPr id="513" name="Google Shape;513;p4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It takes 8 minutes to make a pizza</a:t>
            </a:r>
            <a:endParaRPr/>
          </a:p>
        </p:txBody>
      </p:sp>
      <p:sp>
        <p:nvSpPr>
          <p:cNvPr id="514" name="Google Shape;514;p44"/>
          <p:cNvSpPr txBox="1"/>
          <p:nvPr/>
        </p:nvSpPr>
        <p:spPr>
          <a:xfrm>
            <a:off x="581275" y="1737150"/>
            <a:ext cx="340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Lead time is defined as “the total time a customer waits from order to product delivery(delays included)”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5" name="Google Shape;515;p44"/>
          <p:cNvSpPr txBox="1"/>
          <p:nvPr/>
        </p:nvSpPr>
        <p:spPr>
          <a:xfrm>
            <a:off x="4525050" y="1737150"/>
            <a:ext cx="381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Processing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time is defined as “the overall time spent in creation of the product”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0" name="Google Shape;520;p45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522" name="Google Shape;522;p45"/>
          <p:cNvSpPr txBox="1"/>
          <p:nvPr>
            <p:ph type="title"/>
          </p:nvPr>
        </p:nvSpPr>
        <p:spPr>
          <a:xfrm>
            <a:off x="228600" y="613525"/>
            <a:ext cx="72234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The </a:t>
            </a:r>
            <a:r>
              <a:rPr lang="en"/>
              <a:t>Common</a:t>
            </a:r>
            <a:r>
              <a:rPr lang="en"/>
              <a:t> Scenario:  Deployment Lead times </a:t>
            </a:r>
            <a:r>
              <a:rPr lang="en"/>
              <a:t>Requiring</a:t>
            </a:r>
            <a:r>
              <a:rPr lang="en"/>
              <a:t>  Months</a:t>
            </a:r>
            <a:endParaRPr/>
          </a:p>
        </p:txBody>
      </p:sp>
      <p:sp>
        <p:nvSpPr>
          <p:cNvPr id="523" name="Google Shape;523;p45"/>
          <p:cNvSpPr txBox="1"/>
          <p:nvPr>
            <p:ph idx="5" type="subTitle"/>
          </p:nvPr>
        </p:nvSpPr>
        <p:spPr>
          <a:xfrm>
            <a:off x="239225" y="1761975"/>
            <a:ext cx="2763900" cy="56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 this scenario the </a:t>
            </a:r>
            <a:r>
              <a:rPr lang="en" sz="800"/>
              <a:t>company</a:t>
            </a:r>
            <a:r>
              <a:rPr lang="en" sz="800"/>
              <a:t> is large complex and </a:t>
            </a:r>
            <a:r>
              <a:rPr lang="en" sz="800"/>
              <a:t>working</a:t>
            </a:r>
            <a:r>
              <a:rPr lang="en" sz="800"/>
              <a:t> a s single system that requires approvals and test to integrate new functions. This makes the </a:t>
            </a:r>
            <a:r>
              <a:rPr lang="en" sz="800"/>
              <a:t>value</a:t>
            </a:r>
            <a:r>
              <a:rPr lang="en" sz="800"/>
              <a:t> stream a complex network with patches and </a:t>
            </a:r>
            <a:r>
              <a:rPr lang="en" sz="800"/>
              <a:t>fixes</a:t>
            </a:r>
            <a:r>
              <a:rPr lang="en" sz="800"/>
              <a:t> being touched by a number of hands before rollout</a:t>
            </a:r>
            <a:endParaRPr sz="800"/>
          </a:p>
        </p:txBody>
      </p:sp>
      <p:sp>
        <p:nvSpPr>
          <p:cNvPr id="524" name="Google Shape;524;p45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In this common scenario, a single misplaced fix could cripple an otherwise working </a:t>
            </a:r>
            <a:r>
              <a:rPr b="1" lang="en" sz="1400"/>
              <a:t>system or not work with existing framework</a:t>
            </a:r>
            <a:endParaRPr/>
          </a:p>
        </p:txBody>
      </p:sp>
      <p:sp>
        <p:nvSpPr>
          <p:cNvPr id="525" name="Google Shape;525;p45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Next up comes the ideal layout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0" name="Google Shape;530;p46"/>
          <p:cNvCxnSpPr/>
          <p:nvPr/>
        </p:nvCxnSpPr>
        <p:spPr>
          <a:xfrm>
            <a:off x="88133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46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4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533" name="Google Shape;533;p46"/>
          <p:cNvSpPr txBox="1"/>
          <p:nvPr>
            <p:ph type="title"/>
          </p:nvPr>
        </p:nvSpPr>
        <p:spPr>
          <a:xfrm>
            <a:off x="228600" y="613525"/>
            <a:ext cx="72234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Our DevOps Ideal: Deployment Lead times of Minutes</a:t>
            </a:r>
            <a:endParaRPr/>
          </a:p>
        </p:txBody>
      </p:sp>
      <p:sp>
        <p:nvSpPr>
          <p:cNvPr id="534" name="Google Shape;534;p46"/>
          <p:cNvSpPr txBox="1"/>
          <p:nvPr>
            <p:ph idx="5" type="subTitle"/>
          </p:nvPr>
        </p:nvSpPr>
        <p:spPr>
          <a:xfrm>
            <a:off x="239225" y="1761975"/>
            <a:ext cx="2763900" cy="56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However in the ideal DevOps Scenario; there is a </a:t>
            </a:r>
            <a:r>
              <a:rPr lang="en" sz="800"/>
              <a:t>constant</a:t>
            </a:r>
            <a:r>
              <a:rPr lang="en" sz="800"/>
              <a:t> loop of feedback allowing devs to quickly and consistently </a:t>
            </a:r>
            <a:r>
              <a:rPr lang="en" sz="800"/>
              <a:t>validated and</a:t>
            </a:r>
            <a:r>
              <a:rPr lang="en" sz="800"/>
              <a:t> </a:t>
            </a:r>
            <a:r>
              <a:rPr lang="en" sz="800"/>
              <a:t>integrate</a:t>
            </a:r>
            <a:r>
              <a:rPr lang="en" sz="800"/>
              <a:t> their work in a production </a:t>
            </a:r>
            <a:r>
              <a:rPr lang="en" sz="800"/>
              <a:t>environment</a:t>
            </a:r>
            <a:br>
              <a:rPr lang="en" sz="800"/>
            </a:br>
            <a:br>
              <a:rPr lang="en" sz="800"/>
            </a:br>
            <a:endParaRPr sz="800"/>
          </a:p>
        </p:txBody>
      </p:sp>
      <p:sp>
        <p:nvSpPr>
          <p:cNvPr id="535" name="Google Shape;535;p46"/>
          <p:cNvSpPr txBox="1"/>
          <p:nvPr/>
        </p:nvSpPr>
        <p:spPr>
          <a:xfrm>
            <a:off x="4716750" y="19420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rPr>
              <a:t>By not working on the final product directly rather working </a:t>
            </a:r>
            <a:endParaRPr sz="800">
              <a:solidFill>
                <a:schemeClr val="accent3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rPr>
              <a:t>on a likeness of it( version control) and allowing automation to take over some lengthy processes, lead time can be cut down significantly</a:t>
            </a:r>
            <a:endParaRPr sz="800">
              <a:solidFill>
                <a:schemeClr val="accent3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41" name="Google Shape;541;p4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42" name="Google Shape;542;p47"/>
          <p:cNvSpPr txBox="1"/>
          <p:nvPr>
            <p:ph type="title"/>
          </p:nvPr>
        </p:nvSpPr>
        <p:spPr>
          <a:xfrm>
            <a:off x="228600" y="290450"/>
            <a:ext cx="4717800" cy="206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Value stream: Explained</a:t>
            </a:r>
            <a:endParaRPr/>
          </a:p>
        </p:txBody>
      </p:sp>
      <p:sp>
        <p:nvSpPr>
          <p:cNvPr id="543" name="Google Shape;543;p47"/>
          <p:cNvSpPr txBox="1"/>
          <p:nvPr>
            <p:ph idx="1" type="subTitle"/>
          </p:nvPr>
        </p:nvSpPr>
        <p:spPr>
          <a:xfrm>
            <a:off x="4656025" y="6123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4" name="Google Shape;544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45" name="Google Shape;545;p47"/>
          <p:cNvSpPr txBox="1"/>
          <p:nvPr>
            <p:ph idx="1" type="subTitle"/>
          </p:nvPr>
        </p:nvSpPr>
        <p:spPr>
          <a:xfrm>
            <a:off x="4656025" y="20547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Describe your company’s products and services. Keep your potential partner in mind. What do you offer that’s relevant to their business?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6" name="Google Shape;546;p47"/>
          <p:cNvSpPr txBox="1"/>
          <p:nvPr>
            <p:ph idx="1" type="subTitle"/>
          </p:nvPr>
        </p:nvSpPr>
        <p:spPr>
          <a:xfrm>
            <a:off x="4756900" y="33378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Describe your company’s products and services. Keep your potential partner in mind. What do you offer that’s relevant to their business?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8"/>
          <p:cNvSpPr txBox="1"/>
          <p:nvPr>
            <p:ph idx="1" type="subTitle"/>
          </p:nvPr>
        </p:nvSpPr>
        <p:spPr>
          <a:xfrm>
            <a:off x="4656025" y="6123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 It is the end to end process </a:t>
            </a:r>
            <a:r>
              <a:rPr lang="en" sz="1400">
                <a:solidFill>
                  <a:schemeClr val="dk2"/>
                </a:solidFill>
              </a:rPr>
              <a:t>that is needed to deliver Tech enabled services to customers beginning from an initial business hypothesis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2" name="Google Shape;552;p48"/>
          <p:cNvSpPr txBox="1"/>
          <p:nvPr>
            <p:ph idx="1" type="subTitle"/>
          </p:nvPr>
        </p:nvSpPr>
        <p:spPr>
          <a:xfrm>
            <a:off x="5121625" y="20547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It is made  up of several key stages that when completed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3" name="Google Shape;553;p48"/>
          <p:cNvSpPr txBox="1"/>
          <p:nvPr>
            <p:ph idx="1" type="subTitle"/>
          </p:nvPr>
        </p:nvSpPr>
        <p:spPr>
          <a:xfrm>
            <a:off x="4371325" y="33378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Result in completion of key objectives that </a:t>
            </a:r>
            <a:r>
              <a:rPr lang="en" sz="1400">
                <a:solidFill>
                  <a:schemeClr val="dk2"/>
                </a:solidFill>
              </a:rPr>
              <a:t>can</a:t>
            </a:r>
            <a:r>
              <a:rPr lang="en" sz="1400">
                <a:solidFill>
                  <a:schemeClr val="dk2"/>
                </a:solidFill>
              </a:rPr>
              <a:t> be tied to success metrics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/>
          <p:nvPr/>
        </p:nvSpPr>
        <p:spPr>
          <a:xfrm>
            <a:off x="6080700" y="228600"/>
            <a:ext cx="2835000" cy="2062800"/>
          </a:xfrm>
          <a:prstGeom prst="roundRect">
            <a:avLst>
              <a:gd fmla="val 11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49"/>
          <p:cNvSpPr/>
          <p:nvPr/>
        </p:nvSpPr>
        <p:spPr>
          <a:xfrm flipH="1">
            <a:off x="78926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0" name="Google Shape;560;p49"/>
          <p:cNvSpPr/>
          <p:nvPr/>
        </p:nvSpPr>
        <p:spPr>
          <a:xfrm>
            <a:off x="3154500" y="228600"/>
            <a:ext cx="2835000" cy="20628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1" name="Google Shape;561;p49"/>
          <p:cNvSpPr/>
          <p:nvPr/>
        </p:nvSpPr>
        <p:spPr>
          <a:xfrm flipH="1">
            <a:off x="49664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6080700" y="2389841"/>
            <a:ext cx="2835000" cy="2062800"/>
          </a:xfrm>
          <a:prstGeom prst="roundRect">
            <a:avLst>
              <a:gd fmla="val 116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3" name="Google Shape;563;p49"/>
          <p:cNvSpPr/>
          <p:nvPr/>
        </p:nvSpPr>
        <p:spPr>
          <a:xfrm flipH="1">
            <a:off x="78926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3154500" y="2389841"/>
            <a:ext cx="2835000" cy="2062800"/>
          </a:xfrm>
          <a:prstGeom prst="roundRect">
            <a:avLst>
              <a:gd fmla="val 1087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5" name="Google Shape;565;p49"/>
          <p:cNvSpPr/>
          <p:nvPr/>
        </p:nvSpPr>
        <p:spPr>
          <a:xfrm flipH="1">
            <a:off x="49664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6" name="Google Shape;566;p49"/>
          <p:cNvSpPr/>
          <p:nvPr/>
        </p:nvSpPr>
        <p:spPr>
          <a:xfrm flipH="1">
            <a:off x="78926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7" name="Google Shape;567;p49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Technology Value Streams: Stages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68" name="Google Shape;568;p49"/>
          <p:cNvSpPr txBox="1"/>
          <p:nvPr>
            <p:ph idx="4" type="title"/>
          </p:nvPr>
        </p:nvSpPr>
        <p:spPr>
          <a:xfrm>
            <a:off x="3379125" y="288100"/>
            <a:ext cx="1654500" cy="496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</a:t>
            </a:r>
            <a:r>
              <a:rPr lang="en"/>
              <a:t>1: Ideate</a:t>
            </a:r>
            <a:endParaRPr/>
          </a:p>
        </p:txBody>
      </p:sp>
      <p:sp>
        <p:nvSpPr>
          <p:cNvPr id="569" name="Google Shape;569;p49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Gather Business requests,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conceptualizing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new features and ultimately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prioritizing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what gets built going forward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0" name="Google Shape;570;p49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Designing, and writing of code and testing of resulting software.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1" name="Google Shape;571;p49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Running software ensuring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to performance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monitoring, maintenance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feedback use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2" name="Google Shape;572;p49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Deployment of tested code into production and delivery to end users.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49"/>
          <p:cNvSpPr txBox="1"/>
          <p:nvPr>
            <p:ph idx="4" type="title"/>
          </p:nvPr>
        </p:nvSpPr>
        <p:spPr>
          <a:xfrm>
            <a:off x="3311975" y="2554500"/>
            <a:ext cx="1654500" cy="496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Release</a:t>
            </a:r>
            <a:endParaRPr/>
          </a:p>
        </p:txBody>
      </p:sp>
      <p:sp>
        <p:nvSpPr>
          <p:cNvPr id="574" name="Google Shape;574;p49"/>
          <p:cNvSpPr txBox="1"/>
          <p:nvPr>
            <p:ph idx="4" type="title"/>
          </p:nvPr>
        </p:nvSpPr>
        <p:spPr>
          <a:xfrm>
            <a:off x="6193825" y="389850"/>
            <a:ext cx="1654500" cy="496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Create</a:t>
            </a:r>
            <a:endParaRPr/>
          </a:p>
        </p:txBody>
      </p:sp>
      <p:sp>
        <p:nvSpPr>
          <p:cNvPr id="575" name="Google Shape;575;p49"/>
          <p:cNvSpPr txBox="1"/>
          <p:nvPr>
            <p:ph idx="4" type="title"/>
          </p:nvPr>
        </p:nvSpPr>
        <p:spPr>
          <a:xfrm>
            <a:off x="6193825" y="2621850"/>
            <a:ext cx="1654500" cy="496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Operate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0" name="Google Shape;580;p50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50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0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0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584" name="Google Shape;584;p50"/>
          <p:cNvSpPr txBox="1"/>
          <p:nvPr>
            <p:ph type="title"/>
          </p:nvPr>
        </p:nvSpPr>
        <p:spPr>
          <a:xfrm>
            <a:off x="228600" y="613525"/>
            <a:ext cx="72234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The </a:t>
            </a:r>
            <a:r>
              <a:rPr lang="en"/>
              <a:t>importance</a:t>
            </a:r>
            <a:r>
              <a:rPr lang="en"/>
              <a:t> of an optimized technology value streams can be seen in its objectives</a:t>
            </a:r>
            <a:endParaRPr/>
          </a:p>
        </p:txBody>
      </p:sp>
      <p:sp>
        <p:nvSpPr>
          <p:cNvPr id="585" name="Google Shape;585;p50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6" name="Google Shape;586;p50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7" name="Google Shape;587;p50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8" name="Google Shape;588;p50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Time to market reduction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optimization; bottlenecks and pain points created during handoffs and approval processes can be found and avoided</a:t>
            </a:r>
            <a:endParaRPr/>
          </a:p>
        </p:txBody>
      </p:sp>
      <p:sp>
        <p:nvSpPr>
          <p:cNvPr id="589" name="Google Shape;589;p50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Improved quality of product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lining up development efforts and processes with user needs ; tangible business value is generated. </a:t>
            </a:r>
            <a:endParaRPr/>
          </a:p>
        </p:txBody>
      </p:sp>
      <p:sp>
        <p:nvSpPr>
          <p:cNvPr id="590" name="Google Shape;590;p50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Reduction of Junk Time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identification of non valuable activities and their removal 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96" name="Google Shape;596;p5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97" name="Google Shape;597;p51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8" name="Google Shape;598;p51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1"/>
          <p:cNvSpPr txBox="1"/>
          <p:nvPr/>
        </p:nvSpPr>
        <p:spPr>
          <a:xfrm>
            <a:off x="2123600" y="979250"/>
            <a:ext cx="62493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Sources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“What Is Value Stream Management in Software Delivery? | Planview.” 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Planview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28 Oct. 2022, www.planview.com/resources/articles/value-stream-management-software-delivery/. Accessed 15 June 2026.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“Optimize Value Stream Efficiency to Do More with Less, Faster.” </a:t>
            </a:r>
            <a:r>
              <a:rPr i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GitLab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2024, about.gitlab.com/the-source/platform/optimize-value-stream-efficiency-to-do-more-with-less-faster/. Accessed 13 June 2026.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00" name="Google Shape;600;p5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